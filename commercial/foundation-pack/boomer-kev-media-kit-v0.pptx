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ed391e36d40c4" /><Relationship Type="http://schemas.openxmlformats.org/officeDocument/2006/relationships/extended-properties" Target="/docProps/app.xml" Id="R5c76483c01874542" /><Relationship Type="http://schemas.openxmlformats.org/officeDocument/2006/relationships/officeDocument" Target="/ppt/presentation.xml" Id="R78ac381d2a69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19587f0154caa"/>
  </p:sldMasterIdLst>
  <p:notesMasterIdLst>
    <p:notesMasterId xmlns:r="http://schemas.openxmlformats.org/officeDocument/2006/relationships" r:id="R8f073a51b7d0479c"/>
  </p:notesMasterIdLst>
  <p:sldIdLst>
    <p:sldId xmlns:r="http://schemas.openxmlformats.org/officeDocument/2006/relationships" id="256" r:id="Re039593a33b441b8"/>
    <p:sldId xmlns:r="http://schemas.openxmlformats.org/officeDocument/2006/relationships" id="257" r:id="R73ba56d3bee242f3"/>
    <p:sldId xmlns:r="http://schemas.openxmlformats.org/officeDocument/2006/relationships" id="258" r:id="R0e446a814ece403e"/>
    <p:sldId xmlns:r="http://schemas.openxmlformats.org/officeDocument/2006/relationships" id="259" r:id="R9f67c80d97534b34"/>
    <p:sldId xmlns:r="http://schemas.openxmlformats.org/officeDocument/2006/relationships" id="260" r:id="Rf9752368d8c445f1"/>
    <p:sldId xmlns:r="http://schemas.openxmlformats.org/officeDocument/2006/relationships" id="261" r:id="R5da9bd59ea114d08"/>
    <p:sldId xmlns:r="http://schemas.openxmlformats.org/officeDocument/2006/relationships" id="262" r:id="Rfa9f84ccdd3c43ae"/>
    <p:sldId xmlns:r="http://schemas.openxmlformats.org/officeDocument/2006/relationships" id="263" r:id="Rca96497b3f244bf2"/>
    <p:sldId xmlns:r="http://schemas.openxmlformats.org/officeDocument/2006/relationships" id="264" r:id="Re0adbc1da56242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a002a656c2444b" /><Relationship Type="http://schemas.openxmlformats.org/officeDocument/2006/relationships/slideMaster" Target="/ppt/slideMasters/slideMaster1.xml" Id="R00019587f0154caa" /><Relationship Type="http://schemas.openxmlformats.org/officeDocument/2006/relationships/notesMaster" Target="/ppt/notesMasters/notesMaster1.xml" Id="R8f073a51b7d0479c" /><Relationship Type="http://schemas.openxmlformats.org/officeDocument/2006/relationships/presProps" Target="/ppt/presProps.xml" Id="Rda94c21fa6214172" /><Relationship Type="http://schemas.openxmlformats.org/officeDocument/2006/relationships/viewProps" Target="/ppt/viewProps.xml" Id="R3c4fad5a2a644f5d" /><Relationship Type="http://schemas.openxmlformats.org/officeDocument/2006/relationships/tableStyles" Target="/ppt/tableStyles.xml" Id="Rf6a04ec7924c4f54" /><Relationship Type="http://schemas.openxmlformats.org/officeDocument/2006/relationships/slide" Target="/ppt/slides/slide1.xml" Id="Re039593a33b441b8" /><Relationship Type="http://schemas.openxmlformats.org/officeDocument/2006/relationships/slide" Target="/ppt/slides/slide2.xml" Id="R73ba56d3bee242f3" /><Relationship Type="http://schemas.openxmlformats.org/officeDocument/2006/relationships/slide" Target="/ppt/slides/slide3.xml" Id="R0e446a814ece403e" /><Relationship Type="http://schemas.openxmlformats.org/officeDocument/2006/relationships/slide" Target="/ppt/slides/slide4.xml" Id="R9f67c80d97534b34" /><Relationship Type="http://schemas.openxmlformats.org/officeDocument/2006/relationships/slide" Target="/ppt/slides/slide5.xml" Id="Rf9752368d8c445f1" /><Relationship Type="http://schemas.openxmlformats.org/officeDocument/2006/relationships/slide" Target="/ppt/slides/slide6.xml" Id="R5da9bd59ea114d08" /><Relationship Type="http://schemas.openxmlformats.org/officeDocument/2006/relationships/slide" Target="/ppt/slides/slide7.xml" Id="Rfa9f84ccdd3c43ae" /><Relationship Type="http://schemas.openxmlformats.org/officeDocument/2006/relationships/slide" Target="/ppt/slides/slide8.xml" Id="Rca96497b3f244bf2" /><Relationship Type="http://schemas.openxmlformats.org/officeDocument/2006/relationships/slide" Target="/ppt/slides/slide9.xml" Id="Re0adbc1da56242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a6d0b285641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4532353b942bb" /><Relationship Type="http://schemas.openxmlformats.org/officeDocument/2006/relationships/notesMaster" Target="/ppt/notesMasters/notesMaster1.xml" Id="R696812defc6246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522e33bc74b84" /><Relationship Type="http://schemas.openxmlformats.org/officeDocument/2006/relationships/notesMaster" Target="/ppt/notesMasters/notesMaster1.xml" Id="R051339aab284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2c5ad271b49c7" /><Relationship Type="http://schemas.openxmlformats.org/officeDocument/2006/relationships/notesMaster" Target="/ppt/notesMasters/notesMaster1.xml" Id="R21d51dd19e874e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c10515bd274c30" /><Relationship Type="http://schemas.openxmlformats.org/officeDocument/2006/relationships/notesMaster" Target="/ppt/notesMasters/notesMaster1.xml" Id="R919fccf6d848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fc300d7fd94e1c" /><Relationship Type="http://schemas.openxmlformats.org/officeDocument/2006/relationships/notesMaster" Target="/ppt/notesMasters/notesMaster1.xml" Id="R6aa52fdd22c640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ffece66a614e41" /><Relationship Type="http://schemas.openxmlformats.org/officeDocument/2006/relationships/notesMaster" Target="/ppt/notesMasters/notesMaster1.xml" Id="R8de83ec95f7144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fce3d745844d5f" /><Relationship Type="http://schemas.openxmlformats.org/officeDocument/2006/relationships/notesMaster" Target="/ppt/notesMasters/notesMaster1.xml" Id="R594ff40fb1294b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13cce77d3d436f" /><Relationship Type="http://schemas.openxmlformats.org/officeDocument/2006/relationships/notesMaster" Target="/ppt/notesMasters/notesMaster1.xml" Id="R41660557573643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060ae60c9346e4" /><Relationship Type="http://schemas.openxmlformats.org/officeDocument/2006/relationships/notesMaster" Target="/ppt/notesMasters/notesMaster1.xml" Id="R18bdd662908442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79dd74b4e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baccd611d94f3e" /><Relationship Type="http://schemas.openxmlformats.org/officeDocument/2006/relationships/slideLayout" Target="/ppt/slideLayouts/slideLayout1.xml" Id="R92d0800ff9b040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0800ff9b040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963a6c26646d2" /><Relationship Type="http://schemas.openxmlformats.org/officeDocument/2006/relationships/image" Target="/ppt/media/image.png" Id="Rb2b3f0fc52bf42db" /><Relationship Type="http://schemas.openxmlformats.org/officeDocument/2006/relationships/notesSlide" Target="/ppt/notesSlides/notesSlide1.xml" Id="R16a4152a82e94f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e5e6236346b7" /><Relationship Type="http://schemas.openxmlformats.org/officeDocument/2006/relationships/image" Target="/ppt/media/image2.png" Id="Rf640d4555c914846" /><Relationship Type="http://schemas.openxmlformats.org/officeDocument/2006/relationships/image" Target="/ppt/media/image3.png" Id="Rc15669d0ef104df5" /><Relationship Type="http://schemas.openxmlformats.org/officeDocument/2006/relationships/notesSlide" Target="/ppt/notesSlides/notesSlide2.xml" Id="Raa4396f4c2a3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c67bb2574453a" /><Relationship Type="http://schemas.openxmlformats.org/officeDocument/2006/relationships/notesSlide" Target="/ppt/notesSlides/notesSlide3.xml" Id="Re14c69f827454c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e3c96881846cc" /><Relationship Type="http://schemas.openxmlformats.org/officeDocument/2006/relationships/notesSlide" Target="/ppt/notesSlides/notesSlide4.xml" Id="Rec733e68a847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ca5560b724b62" /><Relationship Type="http://schemas.openxmlformats.org/officeDocument/2006/relationships/notesSlide" Target="/ppt/notesSlides/notesSlide5.xml" Id="Rb3c21965f7d6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68807e8f24bd3" /><Relationship Type="http://schemas.openxmlformats.org/officeDocument/2006/relationships/image" Target="/ppt/media/image4.png" Id="Rf5c238a1200342d8" /><Relationship Type="http://schemas.openxmlformats.org/officeDocument/2006/relationships/image" Target="/ppt/media/image5.png" Id="Rdb5b2e1c1b4d4c05" /><Relationship Type="http://schemas.openxmlformats.org/officeDocument/2006/relationships/image" Target="/ppt/media/image6.png" Id="R3ce094df12da4256" /><Relationship Type="http://schemas.openxmlformats.org/officeDocument/2006/relationships/notesSlide" Target="/ppt/notesSlides/notesSlide6.xml" Id="R8af0ddcff4c6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aa94b368a4644" /><Relationship Type="http://schemas.openxmlformats.org/officeDocument/2006/relationships/notesSlide" Target="/ppt/notesSlides/notesSlide7.xml" Id="R81662369bb4a42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b93c6245a4e03" /><Relationship Type="http://schemas.openxmlformats.org/officeDocument/2006/relationships/notesSlide" Target="/ppt/notesSlides/notesSlide8.xml" Id="R3cf1e725e00d41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9e4ad97d645ce" /><Relationship Type="http://schemas.openxmlformats.org/officeDocument/2006/relationships/image" Target="/ppt/media/image7.png" Id="R04f00f55c3e748e5" /><Relationship Type="http://schemas.openxmlformats.org/officeDocument/2006/relationships/notesSlide" Target="/ppt/notesSlides/notesSlide9.xml" Id="R29a225af1bc14d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0FE97-DE33-4C28-9F03-C287D11F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3f0fc52bf42db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6B3E4-20D1-4C77-9243-A4931452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9734C-31A0-468B-A25A-7C82FE7D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A091D2A2-D4BA-4E37-8E6F-D8575986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C2730B1D-DB2C-4111-9669-E5CFD1C9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AUSTRALIAN ENTERTAINMENT 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1197B-19CC-4E72-AF2A-10C7AB4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CAMPAIGNS</a:t>
            </a:r>
          </a:p>
          <a:p xmlns:a="http://schemas.openxmlformats.org/drawingml/2006/main">
            <a:pPr algn="l">
              <a:defRPr sz="4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BUILT TO</a:t>
            </a:r>
          </a:p>
          <a:p xmlns:a="http://schemas.openxmlformats.org/drawingml/2006/main">
            <a:pPr algn="l">
              <a:defRPr sz="4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4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ENTERTAIN.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CFF8D-3C76-4474-8962-798971A7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Character-led comedy where the product provokes the episode — rather than interrupting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C9065-0039-4D02-8436-AD1C05A7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BOOMER &amp; KEV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24C0B-D9A1-4B44-A529-42EFA1C4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23CBA-1C97-41ED-99F6-71D9A256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21C72-6922-480E-B7E2-23EEC793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87228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D522F-C894-4968-AD52-C2E189CA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AE55A03-7B22-488E-9704-9DE520D4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5935E7ED-AEBD-4FED-BE68-6C454958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THE FORMAT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86947-52F5-492F-9213-BF3562D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6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ONE TENSION MAKES THE BRAND FEEL NATIVE.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0d4555c914846"/>
          <a:srcRect xmlns:a="http://schemas.openxmlformats.org/drawingml/2006/main" l="19620" t="0" r="19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95500"/>
            <a:ext cx="4095750" cy="3762375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669d0ef104df5"/>
          <a:srcRect xmlns:a="http://schemas.openxmlformats.org/drawingml/2006/main" l="19620" t="0" r="19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2095500"/>
            <a:ext cx="4095750" cy="3762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FC5DC-C40A-4A94-86C3-C6C3574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66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F1BF9-88E1-4F06-B8CD-FDEAEB9F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83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FICTIONAL</a:t>
            </a:r>
          </a:p>
          <a:p xmlns:a="http://schemas.openxmlformats.org/drawingml/2006/main">
            <a:pPr algn="ctr">
              <a:def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0F369-0460-427E-B593-32C5209C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5F451-DFB2-4B43-82FB-478BAE6D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THE</a:t>
            </a:r>
          </a:p>
          <a:p xmlns:a="http://schemas.openxmlformats.org/drawingml/2006/main">
            <a:pPr algn="ctr">
              <a:def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125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OBJECTION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AC7B2-9238-495E-A60A-19C160D0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7813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2C235-AAD9-44C2-9D2B-F0B6D7E0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2171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85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rPr>
              <a:t>DESIRE</a:t>
            </a:r>
          </a:p>
          <a:p xmlns:a="http://schemas.openxmlformats.org/drawingml/2006/main">
            <a:pPr algn="ctr">
              <a:defRPr sz="285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85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rPr>
              <a:t>MEETS</a:t>
            </a:r>
          </a:p>
          <a:p xmlns:a="http://schemas.openxmlformats.org/drawingml/2006/main">
            <a:pPr algn="ctr">
              <a:defRPr sz="285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85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rPr>
              <a:t>DOUBT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4EAAC-257F-49EB-817C-0CD7D823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54967-C9C6-42D7-8940-9BAD7C5D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433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5050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050505"/>
                </a:solidFill>
                <a:latin typeface="Avenir Next"/>
                <a:ea typeface="Avenir Next"/>
                <a:cs typeface="Avenir Next"/>
              </a:rPr>
              <a:t>The audience gets the energy of a pitch and the credibility of an objection — inside the same joke.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302EA-AF78-4647-B30A-8EA4FD7B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BOOMER  /  urgency · exaggeration ·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13E12-81CD-425C-9C2A-EC6DB68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KEV  /  objection · restraint · credibility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34251-5EB8-4FCF-83A1-0F041CED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93BC6-213D-42D8-96A3-3923F42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9D2D7-28E6-46D1-8B89-5B2EFE64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23979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9BD14-E447-42F7-BEC3-BA91446D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2A4CB819-4770-480D-841A-31B98AD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4CE2731-7C44-4919-B25F-8AA2C25A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717"/>
                </a:solidFill>
                <a:latin typeface="Avenir Next"/>
                <a:ea typeface="Avenir Next"/>
                <a:cs typeface="Avenir Next"/>
              </a:rPr>
              <a:t>NATIVE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DC3C3-69AA-412A-BB57-4060FFC7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4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THE PRODUCT DOES NOT PAUSE THE STORY. IT STARTS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3B050-324A-41FA-B997-66F2368A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C72EC-EED7-4C29-A911-E8AF327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283B8-7456-41CE-94CA-E635C63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57DA4-51D1-4660-B9BD-DE03E2CC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rPr>
              <a:t>A real audience problem or desire.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15FF6-3413-4D9F-8465-7B19DA28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A6232-E4F5-4C17-A9C1-4EFD7443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6E5BE-534E-4D85-B37E-623542CF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A58B2-2D63-45ED-83FC-A32A8929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CHAOS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4E6D1-4E18-4CC4-93D6-3C634259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rPr>
              <a:t>Boomer turns the product into a bad idea.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E4FC3-8731-4162-AB2D-17A1369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4AE49-222B-4101-BE64-AFFACAD6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11107-32BC-4889-A69A-CF56163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31296-0D0E-4715-BFBE-5F3D7AAE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0AE48-F88F-47CD-B702-982A4BD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rPr>
              <a:t>Kev forces the useful truth into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02568-76BD-47F3-853C-052D6BBD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07FA6-1A48-47AF-8303-387CC37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FB8E5-EAA4-4274-8B2B-D9EC1289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670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40491-BD99-40B4-AE51-F67C35BC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PAYOFF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7468C-4463-4BCF-942D-C6E4DCDE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F4A45"/>
                </a:solidFill>
                <a:latin typeface="Avenir Next"/>
                <a:ea typeface="Avenir Next"/>
                <a:cs typeface="Avenir Next"/>
              </a:rPr>
              <a:t>The CTA lands after the joke earns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34260-DC84-4158-BACF-333EA4A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0C079-5F20-462C-8A86-F7DA576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51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Remove the logo and CTA: if the scene stops being entertaining, the integration is not ready.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AAB18-F3DD-4CC0-9C38-C97A471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A29A9-8072-46B1-9A86-12B4B97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16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7716A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F0F3F-8813-47B5-8BFA-D94FD880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16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7716A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860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E1297-8CDD-4D5E-92A7-F4965D8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C5492D43-1382-4DC8-AF34-55B659F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0BE2B9AA-4108-4639-8833-91ACCE9F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COMMERCIAL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DAFFA-78E4-439B-83A5-8881F48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6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ONE PROPERTY. THREE WAYS TO CREATE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F1E9C-0FF6-41B4-8E7D-BB206C2C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60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D16BC-88A3-4ADC-B37A-669FA8D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669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F534B-DE67-4A7E-80C6-3A609EFB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90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2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80276-C1D9-4BB5-A6C7-B26711A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Access to the 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48AA0-D228-4DF6-AF93-2FF834CA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2C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2C2C2"/>
                </a:solidFill>
                <a:latin typeface="Avenir Next"/>
                <a:ea typeface="Avenir Next"/>
                <a:cs typeface="Avenir Next"/>
              </a:rPr>
              <a:t>Native integrations · presented series · affiliate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2C933-3C5A-4554-B901-C211494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72054-9E98-4896-8F70-6516D44F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6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4721C-3E51-418B-9CB4-231B993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57575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23DD-1707-4C07-B3DA-2665E171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813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2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CREATIVE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CBC5-ABE3-4429-AE37-EA5F056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Assets for the brand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07FE7-9B80-455C-8FA6-AE7001D7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2C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2C2C2"/>
                </a:solidFill>
                <a:latin typeface="Avenir Next"/>
                <a:ea typeface="Avenir Next"/>
                <a:cs typeface="Avenir Next"/>
              </a:rPr>
              <a:t>Branded sketches · performance variants · cutdowns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2BB72-3E93-4BF7-AEB3-926C9BC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8C89E-30AB-4896-8469-8CA6B371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60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E400B-622D-4E0E-89FE-539D9D36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4E6D6-AC03-418C-9369-2348EDE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72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2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A1457-90DF-4DD6-A1CC-ECC33E09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Extensions of the universe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0E794-A7CF-4B79-B5A4-C01C454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2C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2C2C2"/>
                </a:solidFill>
                <a:latin typeface="Avenir Next"/>
                <a:ea typeface="Avenir Next"/>
                <a:cs typeface="Avenir Next"/>
              </a:rPr>
              <a:t>Merchandise · collaborations · character licensing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122DB-237D-4DBF-B8D8-25009782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AEC9B-6749-4C23-8938-7F838EF4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6CD89-DB4D-46B2-81E1-47E790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A53A3-38FE-48DE-ABDB-B57A7BB9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36242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BAE6E-AD70-418C-84C7-606EC6F0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9B9CBF6-FD36-4A08-8618-12F898B1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AF41766-57B9-4D50-A8F0-D846681A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717"/>
                </a:solidFill>
                <a:latin typeface="Avenir Next"/>
                <a:ea typeface="Avenir Next"/>
                <a:cs typeface="Avenir Next"/>
              </a:rPr>
              <a:t>WAYS TO WORK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7BD51-E299-442F-ACCB-78D2CA3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START WITH PROOF. SCALE WITH RIGHTS AND RECURRENCE.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C4090-EF17-48D0-82C7-278F0B62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94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00FD4-9255-4816-BF0E-102B6CAE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5370E-F861-4DF9-9FBC-071F96C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INTEGRATION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B1939-96FC-48CA-ADAD-E93B6E4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rPr>
              <a:t>One native moment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5CC25-F980-4DF8-8402-5C15AEBC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52900"/>
            <a:ext cx="1943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B0EC0-7986-444E-A393-1AFA700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FBCB4-D267-4AC2-99D9-F060BE6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BRANDED SKETCH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A2BC1-C3C8-4EA9-A062-16E2CF6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rPr>
              <a:t>One dedicated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E568A-13A6-452B-A271-7725B27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19431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875D4-8D42-4209-B426-0489804D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67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51BEF-BE0B-4F18-899B-D06A759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338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CAMPAIGN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09F49-8629-46F2-830F-C5B54A88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340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rPr>
              <a:t>Controlled variants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517A9-FFA3-44C1-8637-DACCEAD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1943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42081-D9E9-4610-B050-759C4AE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DE005-436B-4645-A14C-75A0EF9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SEASON PARTNER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70A39-42FF-41B2-883E-C1A991A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340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EBEBE"/>
                </a:solidFill>
                <a:latin typeface="Avenir Next"/>
                <a:ea typeface="Avenir Next"/>
                <a:cs typeface="Avenir Next"/>
              </a:rPr>
              <a:t>Recurring inventory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13403-4AF7-45E7-BD11-EE6066A3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943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379B2-3DB4-49BC-97AB-E271A4DD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50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5050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67B69-ABF3-45A1-8E45-A8687EF6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956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500" b="1">
                <a:solidFill>
                  <a:srgbClr val="050505"/>
                </a:solidFill>
                <a:latin typeface="Avenir Next Condensed"/>
                <a:ea typeface="Avenir Next Condensed"/>
                <a:cs typeface="Avenir Next Condensed"/>
              </a:rPr>
              <a:t>IP COLLABORATION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7D5A7-3E09-4644-AB50-C9883D06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3400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050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050505"/>
                </a:solidFill>
                <a:latin typeface="Avenir Next"/>
                <a:ea typeface="Avenir Next"/>
                <a:cs typeface="Avenir Next"/>
              </a:rPr>
              <a:t>Products + licensing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C94E2-1BE2-4FFA-A1E7-4AE77B3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D9795-EB24-4E3C-8CC1-54E005C4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16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7716A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C445B-AC1A-44DF-86D1-A82F6E9C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16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7716A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22360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A5C83-20C9-4D44-831D-190C621A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F7D44CFF-B8C7-411C-9498-299B5872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55AA0FA-C55C-462D-AD66-2AC5F96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CAMPAIGN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C33ED-5D2D-4D40-9B17-EA254094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ONE APPROVED IDEA BECOMES A CONTROLLED FORMAT SYSTEM.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238a1200342d8"/>
          <a:srcRect xmlns:a="http://schemas.openxmlformats.org/drawingml/2006/main" l="47" t="0" r="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95500"/>
            <a:ext cx="5715000" cy="32194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b2e1c1b4d4c05"/>
          <a:srcRect xmlns:a="http://schemas.openxmlformats.org/drawingml/2006/main" l="59" t="0" r="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095500"/>
            <a:ext cx="1809750" cy="32194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094df12da4256"/>
          <a:srcRect xmlns:a="http://schemas.openxmlformats.org/drawingml/2006/main" l="2959" t="0" r="29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3450" y="2095500"/>
            <a:ext cx="3028950" cy="3219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BD5FA-FA91-4C8B-AAE8-F9A502A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16:9  /  HERO · YOUTUBE · DISPLAY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1AB22-A5F4-474C-AB90-953CB79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05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9:16  /  SHORT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0EF60-32E7-4540-8412-E8D94D8E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054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1:1  /  APPROVAL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FB288-2CFE-48AE-868C-37FC3060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77777"/>
                </a:solidFill>
                <a:latin typeface="Menlo"/>
                <a:ea typeface="Menlo"/>
                <a:cs typeface="Menlo"/>
              </a:rPr>
              <a:t>Concept artwork · internal demonstration · not client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2C358-6E9B-4E51-915A-D089F61D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7E272-1E7A-4311-A416-7C1429D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D2CAE-B8BC-4150-AE61-A473BEE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60430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BD1F4-5C63-4C52-805A-4D8BDBE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0BDE02F-A06F-433F-AC91-6B917D95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EF624A0D-3D73-4651-846E-13315FB0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MEASUREMENT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1C5D7-BDC0-4ADB-9AC4-032C033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WE MEASURE THE STORY BEFORE WE CLAIM COMMERCIAL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D4067-BA09-45BF-BC0C-A3E4A940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ATTENTION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C6CF3-D801-4999-91D4-6BA205F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COMMERCIAL 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69776-7223-405A-9974-C11A7933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5720E-FF09-4F6C-B944-C441C3F3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1 / 3 / 6-second retention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2AA62-A371-4A3D-9600-9486E3C2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C1F53-230B-4461-9496-A0CC917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Retention through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18ACC-41DA-469D-AC8A-BC2306B9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15BB9-B030-41CA-B1DB-D8E957B8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Average percentage viewed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467E3-85A5-4EA9-B279-542F240C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00310-30F2-47A5-B794-E36A7D0B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Verified clicks + code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B7C61-03C9-4E5D-AB8F-714D708C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02E1A-8637-41CF-9011-6C332394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Completion + rewatch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31EBD-4ADA-4861-B0A9-C9EDEA5C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76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92DA7-1355-46F9-92B0-989BE55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Hook and CTA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46524-9956-4AE6-8B3F-74C6AE87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9F14E-8D27-4E98-940D-D8D2CA69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Shares + comments per 1,000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D8E60-72E3-4144-8AB5-E40AEB2F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0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EFA0A-1401-4DA5-B5E1-6DF785A9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Campaign margin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DCB75-8D73-4EF6-B170-A7FCB21D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0162D-F8BC-4D06-A7A1-F8389CD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Follower growth by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FD476-94DC-40F0-B984-BEBFE2B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43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20DB4-9AAC-4EAC-AD7B-71372C46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Renewal + recurring revenue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519C7-4773-432C-8735-BC2932C5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8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8C909-88D3-4FFB-849A-F3CC4801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B7417-76C5-4416-A10D-EA1D75E7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50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50505"/>
                </a:solidFill>
                <a:latin typeface="Menlo"/>
                <a:ea typeface="Menlo"/>
                <a:cs typeface="Menlo"/>
              </a:rPr>
              <a:t>NO INVENTED AUDIENCE DATA · NO GUARANTEED VIEWS · NO GUARANTEED ROAS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5CAC1-C8D1-44AC-B397-24CB2FD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C575F5-D8A3-4E80-9B9A-AF2C520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0FD45-6295-451B-B112-E3711AA0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6096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BF928-4D8B-45F8-9F71-71B8999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C19289F9-EA27-41E7-A0BD-D807DC9D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F1B673F2-E51E-49D9-8EA3-B10460C9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717"/>
                </a:solidFill>
                <a:latin typeface="Avenir Next"/>
                <a:ea typeface="Avenir Next"/>
                <a:cs typeface="Avenir Next"/>
              </a:rPr>
              <a:t>COMMERCIAL RIGHTS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B7781-AC73-41A0-AC86-3CA98E6F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225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PRODUCTION IS ONE FEE. ACCESS AND RIGHTS ARE SEPARATE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F78EF-DCD0-44BC-9EB8-30417BE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FF5F1F"/>
                </a:solidFill>
                <a:latin typeface="Avenir Next Condensed"/>
                <a:ea typeface="Avenir Next Condensed"/>
                <a:cs typeface="Avenir Next Condensed"/>
              </a:rPr>
              <a:t>PRODUCTION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18889-CA25-4BE9-87CC-BC0EC82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rPr>
              <a:t>Concept · script ·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8F1C3-5658-4D67-BCBE-D8BF907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5F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5F1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B75B4-99DB-4907-9E44-08CC073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PUBLICATION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FEA3D-14EF-4BC7-83E0-18AE1AE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rPr>
              <a:t>Access to B&amp;K 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7B637-2F11-4E54-9254-5091AD9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5F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5F1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546CC-5EE9-469B-A4E6-63997E9A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USAGE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A09DC-4D15-4A65-A3F0-2B815A3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rPr>
              <a:t>Term · territory · channels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A4530-3C93-4B61-A59C-39097D3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5F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5F1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7D880-5D29-4EF4-A3B5-6578B781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PAID MEDIA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CDA5A-ED43-46A5-AF90-FB5916E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rPr>
              <a:t>Spark · partnership · whitelist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B54AD-DD61-4FA4-860C-8C91C831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5F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5F1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E5A21-E42D-4749-865B-830837DB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6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EXCLUSIVITY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68D8C-BB67-4A6B-BF30-8AABE36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14B45"/>
                </a:solidFill>
                <a:latin typeface="Avenir Next"/>
                <a:ea typeface="Avenir Next"/>
                <a:cs typeface="Avenir Next"/>
              </a:rPr>
              <a:t>Category · duration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14B39-8A6E-4F21-B9B6-3FF165BD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4A14D-8133-4097-A677-68D7F91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THE BRAND RECEIVES A DEFINED LICENCE.</a:t>
            </a:r>
          </a:p>
          <a:p xmlns:a="http://schemas.openxmlformats.org/drawingml/2006/main">
            <a:pPr algn="ctr">
              <a:def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171717"/>
                </a:solidFill>
                <a:latin typeface="Avenir Next Condensed"/>
                <a:ea typeface="Avenir Next Condensed"/>
                <a:cs typeface="Avenir Next Condensed"/>
              </a:rPr>
              <a:t>BOOMER &amp; KEV RETAINS ITS CHARACTERS, VOICES, LORE AND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B3A19-75B2-4CE4-8A12-E1EC349C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007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5F1F"/>
                </a:solidFill>
                <a:latin typeface="Menlo"/>
                <a:ea typeface="Menlo"/>
                <a:cs typeface="Menlo"/>
              </a:rPr>
              <a:t>Perpetual, all-media ownership is not a standard offer.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6AAAF-CA19-415A-AEFE-DF6D866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7F18B-1BD4-45C5-B5A5-C9904EC6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16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7716A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55E4D-EE97-49AD-B64F-6A90626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716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77716A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43961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F1BD7-CB3A-499B-83D9-E8F44AB1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0f55c3e748e5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5A78A-5685-4C12-9CFE-8B9E3EF3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C5EAC26-7F9F-4BC8-9208-3E334133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191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CC5732A-51DA-4FCA-85D8-2340D2E6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34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5F1F"/>
                </a:solidFill>
                <a:latin typeface="Avenir Next"/>
                <a:ea typeface="Avenir Next"/>
                <a:cs typeface="Avenir Next"/>
              </a:rPr>
              <a:t>FIRST PARTNER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D27E3-FDD4-4B6C-94BE-6EB9FDC5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23950"/>
            <a:ext cx="419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GIVE THE</a:t>
            </a:r>
          </a:p>
          <a:p xmlns:a="http://schemas.openxmlformats.org/drawingml/2006/main">
            <a:pPr algn="l">
              <a:def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PRODUCT</a:t>
            </a:r>
          </a:p>
          <a:p xmlns:a="http://schemas.openxmlformats.org/drawingml/2006/main">
            <a:pPr algn="l">
              <a:def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6F1EA"/>
                </a:solidFill>
                <a:latin typeface="Avenir Next Condensed"/>
                <a:ea typeface="Avenir Next Condensed"/>
                <a:cs typeface="Avenir Next Condensed"/>
              </a:rPr>
              <a:t>SOMETHING FUNNY TO 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E21B6-29B8-4316-BF43-C3A80D32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909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81E18-6E96-4B6C-AC8A-87FF8E8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Clear product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92181-1D9E-4E41-9179-6A395C00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290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91000-C405-4AD7-9D9F-346BD6EA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Visible demonstration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2B1DF-D7BA-4429-B2AA-2DE78F69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672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3AC19-5368-4D80-ABA2-FBEAA2D1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Room for character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50A16-93BF-4044-A75F-03A4C326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053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D8D40-D3AB-4734-8601-D86F1F49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Transparent partnership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F741D-5A0B-4B9A-95F6-20D9D657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911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ABBBD-53D8-4374-950C-82BEC41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435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1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5F1F"/>
                </a:solidFill>
                <a:latin typeface="Menlo"/>
                <a:ea typeface="Menlo"/>
                <a:cs typeface="Menlo"/>
              </a:rPr>
              <a:t>PARTNERSHIP ENQUIRIES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B5C37-6B91-49D5-9AD2-64BFDA79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483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Commercial contact to be confirmed</a:t>
            </a:r>
          </a:p>
          <a:p xmlns:a="http://schemas.openxmlformats.org/drawingml/2006/main">
            <a:pPr algn="l">
              <a:defRPr sz="1200" b="0">
                <a:solidFill>
                  <a:srgbClr val="F6F1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6F1EA"/>
                </a:solidFill>
                <a:latin typeface="Avenir Next"/>
                <a:ea typeface="Avenir Next"/>
                <a:cs typeface="Avenir Next"/>
              </a:rPr>
              <a:t>before external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E3297-DB1A-42F4-A4FF-EECD9C7B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A0FD1-5844-4439-B170-F8720D70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B&amp;K / COMMERCIAL CREATIVES / PRE-LAUNCH V0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7255E-1CED-4C3E-83A3-98F0FF7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6E6E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E6E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549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2026-07-29T12:22:11.1270000Z</dcterms:created>
  <dcterms:modified xsi:type="dcterms:W3CDTF">2026-07-29T12:22:11.1270000Z</dcterms:modified>
</coreProperties>
</file>